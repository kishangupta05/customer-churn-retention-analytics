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52560" y="640080"/>
            <a:ext cx="2011680" cy="1097280"/>
          </a:xfrm>
          <a:prstGeom prst="round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66960" y="1920240"/>
            <a:ext cx="1371600" cy="1828800"/>
          </a:xfrm>
          <a:prstGeom prst="round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0" y="3383280"/>
            <a:ext cx="1463040" cy="1188720"/>
          </a:xfrm>
          <a:prstGeom prst="roundRect">
            <a:avLst/>
          </a:prstGeom>
          <a:solidFill>
            <a:srgbClr val="EB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0" y="4663440"/>
            <a:ext cx="2286000" cy="731520"/>
          </a:xfrm>
          <a:prstGeom prst="round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C948E"/>
                </a:solidFill>
                <a:latin typeface="Aptos"/>
              </a:defRPr>
            </a:pPr>
            <a:r>
              <a:t>CUSTOMER CHURN &amp; RETENTION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Python EDA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Findings &amp; Business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7E1EC"/>
                </a:solidFill>
                <a:latin typeface="Aptos"/>
              </a:defRPr>
            </a:pPr>
            <a:r>
              <a:t>IBM Telco Customer Churn Dataset</a:t>
            </a:r>
          </a:p>
          <a:p>
            <a:pPr>
              <a:spcAft>
                <a:spcPts val="700"/>
              </a:spcAft>
              <a:defRPr sz="1700" b="0">
                <a:solidFill>
                  <a:srgbClr val="D7E1EC"/>
                </a:solidFill>
                <a:latin typeface="Aptos"/>
              </a:defRPr>
            </a:pPr>
            <a:r>
              <a:t>7,043 customer records •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1. Business Context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What are we trying to understand?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50876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Customer churn can reduce recurring revenue and increase the need to replace lost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747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73152" cy="150876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EDA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Identify customer segments associated with higher churn and prioritize further investigation.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1508760"/>
          </a:xfrm>
          <a:prstGeom prst="rect">
            <a:avLst/>
          </a:prstGeom>
          <a:solidFill>
            <a:srgbClr val="EB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67128"/>
            <a:ext cx="310896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Use Python, pandas, and seaborn to validate data, compare segments, and visualize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 Explore contract, tenure, payment method, internet service, add-on services, and monthly charges.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 Translate observed patterns into testable retention recommendations.</a:t>
            </a:r>
          </a:p>
          <a:p>
            <a:pPr>
              <a:spcAft>
                <a:spcPts val="7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•  Treat findings as associations—not proof of causation.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2. Dataset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Dataset checked before interpreting churn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14300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Customer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73152" cy="114300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783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167128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5603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73152" cy="1143000"/>
          </a:xfrm>
          <a:prstGeom prst="rect">
            <a:avLst/>
          </a:prstGeom>
          <a:solidFill>
            <a:srgbClr val="EB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783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Unique Customer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5603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73152" cy="114300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62288" y="1783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167128"/>
            <a:ext cx="2194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Duplicate full rows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46120"/>
            <a:ext cx="1069848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 11 </a:t>
            </a:r>
            <a:r>
              <a:rPr dirty="0" err="1"/>
              <a:t>TotalCharges</a:t>
            </a:r>
            <a:r>
              <a:rPr dirty="0"/>
              <a:t> entries were blank/whitespace and corresponded to customers with tenure = 0.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 Those values were retained as missing rather than guessed or imputed.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rPr dirty="0"/>
              <a:t>•  </a:t>
            </a:r>
            <a:r>
              <a:rPr dirty="0" err="1"/>
              <a:t>TotalCharges</a:t>
            </a:r>
            <a:r>
              <a:rPr dirty="0"/>
              <a:t> was converted to numeric in the working Python </a:t>
            </a:r>
            <a:r>
              <a:rPr dirty="0" err="1"/>
              <a:t>DataFrame</a:t>
            </a:r>
            <a:r>
              <a:rPr dirty="0"/>
              <a:t>; conversion errors: 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3. Overall Churn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A reference point for segment-level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2918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150876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74519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26.54%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58568"/>
            <a:ext cx="292608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Overall churn rate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1,869 churned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2918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73152" cy="150876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73.46%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58568"/>
            <a:ext cx="292608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Retention rate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5,174 retained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2918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1508760"/>
          </a:xfrm>
          <a:prstGeom prst="rect">
            <a:avLst/>
          </a:prstGeom>
          <a:solidFill>
            <a:srgbClr val="EB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74519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7,043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292608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Total customers analyzed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•  Approximately 1 in 4 customers in this dataset churned.</a:t>
            </a:r>
          </a:p>
          <a:p>
            <a:pPr>
              <a:spcAft>
                <a:spcPts val="700"/>
              </a:spcAft>
              <a:defRPr sz="1800" b="0">
                <a:solidFill>
                  <a:srgbClr val="2A3441"/>
                </a:solidFill>
                <a:latin typeface="Aptos"/>
              </a:defRPr>
            </a:pPr>
            <a:r>
              <a:t>•  Use the overall churn rate as a baseline when comparing segments.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4. Contract &amp; Payment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Two strong segments for further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257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Contract type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Month-to-month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42.71%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One year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11.27%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Two year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2.83%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257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Electronic check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45.29%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Mailed check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19.11%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Bank transfer (automatic)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16.71%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Credit card (automatic)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15.24%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251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•  Month-to-month contracts and electronic-check users have the highest observed churn in their respective categories.</a:t>
            </a:r>
          </a:p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•  Investigate these groups alongside tenure, service mix, and monthly charges.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5. Tenure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Churn is concentrated among newer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6583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Tenure group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0–12 months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2,186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47.44%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13–24 months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1,024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28.71%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25–48 months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1,594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20.39%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49–60 months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832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14.42%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61–72 months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1,407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6.61%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874519"/>
            <a:ext cx="34290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26679" y="1874519"/>
            <a:ext cx="73152" cy="132588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7848" y="201167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47.44%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395727"/>
            <a:ext cx="3063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Churn among customers with 0–12 months tenure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74720"/>
            <a:ext cx="34290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3474720"/>
            <a:ext cx="73152" cy="132588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361187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6.61%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95928"/>
            <a:ext cx="3063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Churn among customers with 61–72 months tenure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074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Recommendation: investigate onboarding and first-year customer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6. Service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Higher churn appears in several service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00200"/>
          <a:ext cx="54863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Fiber optic internet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41.89%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online security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41.77%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tech support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41.64%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online backup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39.93%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No device protection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39.13%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29400" y="1783080"/>
            <a:ext cx="4389120" cy="12801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0" y="1783080"/>
            <a:ext cx="73152" cy="128016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30568" y="1920240"/>
            <a:ext cx="4023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What stands out?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304288"/>
            <a:ext cx="4023359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Fiber optic customers and customers without selected add-on services show elevated churn.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337560"/>
            <a:ext cx="4389120" cy="128016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3337560"/>
            <a:ext cx="73152" cy="128016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0568" y="3474720"/>
            <a:ext cx="40233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What to do next?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858768"/>
            <a:ext cx="4023359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Compare contract type, tenure, monthly charges, and customer experience across these groups.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983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Segments overlap: one customer may belong to several groups. Do not add these rates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7. Monthly Charges &amp;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The relationship is not strictly increasing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9164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Monthly charge group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0–35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1,735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10.89%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35–60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1,183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25.44%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60–90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2,386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33.91%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90–120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1,739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32.78%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828800"/>
            <a:ext cx="3657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73152" cy="1325880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16368" y="196596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Highest 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350008"/>
            <a:ext cx="3291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60–90 group had the highest churn rate: 33.91%.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429000"/>
            <a:ext cx="3657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0" y="3429000"/>
            <a:ext cx="73152" cy="1325880"/>
          </a:xfrm>
          <a:prstGeom prst="rect">
            <a:avLst/>
          </a:prstGeom>
          <a:solidFill>
            <a:srgbClr val="2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6368" y="3566160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642"/>
                </a:solidFill>
                <a:latin typeface="Aptos"/>
              </a:defRPr>
            </a:pPr>
            <a:r>
              <a:t>Interpret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950208"/>
            <a:ext cx="32918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The 90–120 group had a slightly lower rate: 32.78%. Charges alone do not explain churn.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t>8. Priority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Actions to investigate—not guaranteed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835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pattern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Suggested investigation</a:t>
                      </a:r>
                    </a:p>
                  </a:txBody>
                  <a:tcPr marR="73152" marT="36576" marB="27432">
                    <a:solidFill>
                      <a:srgbClr val="13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Month-to-month churn: 42.71%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Review reasons for leaving; test transparent, optional longer-term offers.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First 12 months churn: 47.44%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Review onboarding, early complaints, and first-year customer engagement.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Electronic-check churn: 45.29%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tenure, contract type, service mix, and billing experience.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Fiber optic churn: 41.89%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Investigate pricing perceptions, service quality, and support experiences.</a:t>
                      </a:r>
                    </a:p>
                  </a:txBody>
                  <a:tcPr marR="73152" marT="36576" marB="27432">
                    <a:solidFill>
                      <a:srgbClr val="EF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60–90 charges churn: 33.91%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Profile contracts, tenure, and subscribed services in this segment.</a:t>
                      </a:r>
                    </a:p>
                  </a:txBody>
                  <a:tcPr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749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642"/>
                </a:solidFill>
                <a:latin typeface="Aptos"/>
              </a:defRPr>
            </a:pPr>
            <a:r>
              <a:t>Evaluation principle: test retention initiatives and monitor later churn outcomes; do not claim impact before measuring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32642"/>
                </a:solidFill>
                <a:latin typeface="Aptos"/>
              </a:defRPr>
            </a:pPr>
            <a:r>
              <a:rPr dirty="0"/>
              <a:t>9.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C7A"/>
                </a:solidFill>
                <a:latin typeface="Aptos"/>
              </a:defRPr>
            </a:pPr>
            <a:r>
              <a:t>Keep the analysis evidence-based and move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C9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F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 EDA describes associations in this dataset; it does not establish causation.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 Segments overlap, so high churn rates are not independent effects.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 Further cross-segment analysis is needed to explore confounding factors.</a:t>
            </a:r>
          </a:p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 No predictive model or causal impact evaluation was performed.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758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kishan .</cp:lastModifiedBy>
  <cp:revision>3</cp:revision>
  <dcterms:created xsi:type="dcterms:W3CDTF">2013-01-27T09:14:16Z</dcterms:created>
  <dcterms:modified xsi:type="dcterms:W3CDTF">2026-10-25T15:04:54Z</dcterms:modified>
  <cp:category/>
</cp:coreProperties>
</file>