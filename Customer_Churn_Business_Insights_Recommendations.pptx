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0C1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777240"/>
            <a:ext cx="27432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200" b="1" i="0">
                <a:solidFill>
                  <a:srgbClr val="EFBEA5"/>
                </a:solidFill>
                <a:latin typeface="Aptos"/>
              </a:rPr>
              <a:t>CUSTOMER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17320"/>
            <a:ext cx="2880360" cy="19659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Customer Churn
Business Insights
&amp;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897880"/>
            <a:ext cx="274320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EDA  •  SQL  •  Power BI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960120"/>
            <a:ext cx="31546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97680" y="960120"/>
            <a:ext cx="73152" cy="1280160"/>
          </a:xfrm>
          <a:prstGeom prst="rect">
            <a:avLst/>
          </a:prstGeom>
          <a:solidFill>
            <a:srgbClr val="EB6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53128" y="1051560"/>
            <a:ext cx="289864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TOTAL 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1325880"/>
            <a:ext cx="289864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7,043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947672"/>
            <a:ext cx="289864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Customer records analyzed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960120"/>
            <a:ext cx="3154680" cy="1280160"/>
          </a:xfrm>
          <a:prstGeom prst="roundRect">
            <a:avLst/>
          </a:prstGeom>
          <a:solidFill>
            <a:srgbClr val="FCE8E6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26679" y="960120"/>
            <a:ext cx="73152" cy="128016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82127" y="1051560"/>
            <a:ext cx="289864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CHURNED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1325880"/>
            <a:ext cx="289864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1,869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1947672"/>
            <a:ext cx="289864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26.54% of customers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651760"/>
            <a:ext cx="3154680" cy="1280160"/>
          </a:xfrm>
          <a:prstGeom prst="roundRect">
            <a:avLst/>
          </a:prstGeom>
          <a:solidFill>
            <a:srgbClr val="E0F2F1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97680" y="2651760"/>
            <a:ext cx="73152" cy="1280160"/>
          </a:xfrm>
          <a:prstGeom prst="rect">
            <a:avLst/>
          </a:prstGeom>
          <a:solidFill>
            <a:srgbClr val="0D7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53128" y="2743200"/>
            <a:ext cx="289864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RETAINED 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3017520"/>
            <a:ext cx="289864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5,174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3639312"/>
            <a:ext cx="289864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73.46% retained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79" y="2651760"/>
            <a:ext cx="3154680" cy="1280160"/>
          </a:xfrm>
          <a:prstGeom prst="roundRect">
            <a:avLst/>
          </a:prstGeom>
          <a:solidFill>
            <a:srgbClr val="E6EEF8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26679" y="2651760"/>
            <a:ext cx="73152" cy="1280160"/>
          </a:xfrm>
          <a:prstGeom prst="rect">
            <a:avLst/>
          </a:prstGeom>
          <a:solidFill>
            <a:srgbClr val="164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82127" y="2743200"/>
            <a:ext cx="289864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CORE OBJECTIVE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7" y="3017520"/>
            <a:ext cx="289864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Understand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7" y="3639312"/>
            <a:ext cx="289864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Identify segments and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480560"/>
            <a:ext cx="6492240" cy="91440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700" b="1" i="0">
                <a:solidFill>
                  <a:srgbClr val="242B36"/>
                </a:solidFill>
                <a:latin typeface="Aptos"/>
              </a:rPr>
              <a:t>A data-driven view of where churn concentrates and what the business should investigate next.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806440"/>
            <a:ext cx="6675120" cy="3657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1">
                <a:solidFill>
                  <a:srgbClr val="565F6C"/>
                </a:solidFill>
                <a:latin typeface="Aptos"/>
              </a:rPr>
              <a:t>Descriptive analysis shows patterns; it does not prove causation.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500" b="1" i="0">
                <a:solidFill>
                  <a:srgbClr val="0C1B5B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0">
                <a:solidFill>
                  <a:srgbClr val="565F6C"/>
                </a:solidFill>
                <a:latin typeface="Aptos"/>
              </a:rPr>
              <a:t>The strongest observed signals from the churn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685800" cy="45720"/>
          </a:xfrm>
          <a:prstGeom prst="rect">
            <a:avLst/>
          </a:prstGeom>
          <a:solidFill>
            <a:srgbClr val="EB6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/>
            <a:r>
              <a:rPr sz="900" b="0" i="0">
                <a:solidFill>
                  <a:srgbClr val="565F6C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53312"/>
            <a:ext cx="2606040" cy="1143000"/>
          </a:xfrm>
          <a:prstGeom prst="roundRect">
            <a:avLst/>
          </a:prstGeom>
          <a:solidFill>
            <a:srgbClr val="FCE8E6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73152" cy="1143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44752"/>
            <a:ext cx="235000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OVERALL CHURN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19072"/>
            <a:ext cx="235000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26.54%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03704"/>
            <a:ext cx="235000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1,869 of 7,043 customers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353312"/>
            <a:ext cx="2606040" cy="1143000"/>
          </a:xfrm>
          <a:prstGeom prst="roundRect">
            <a:avLst/>
          </a:prstGeom>
          <a:solidFill>
            <a:srgbClr val="FFF6DC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64992" y="1353312"/>
            <a:ext cx="73152" cy="1143000"/>
          </a:xfrm>
          <a:prstGeom prst="rect">
            <a:avLst/>
          </a:prstGeom>
          <a:solidFill>
            <a:srgbClr val="EB6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1444752"/>
            <a:ext cx="235000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MONTH-TO-MONTH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719072"/>
            <a:ext cx="235000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42.71%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203704"/>
            <a:ext cx="235000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Highest contract-level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1353312"/>
            <a:ext cx="2606040" cy="1143000"/>
          </a:xfrm>
          <a:prstGeom prst="roundRect">
            <a:avLst/>
          </a:prstGeom>
          <a:solidFill>
            <a:srgbClr val="FCE8E6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35624" y="1353312"/>
            <a:ext cx="73152" cy="1143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1072" y="1444752"/>
            <a:ext cx="235000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TENURE: 0–12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1719072"/>
            <a:ext cx="235000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47.44%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203704"/>
            <a:ext cx="235000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Highest tenure-band 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6256" y="1353312"/>
            <a:ext cx="2606040" cy="1143000"/>
          </a:xfrm>
          <a:prstGeom prst="roundRect">
            <a:avLst/>
          </a:prstGeom>
          <a:solidFill>
            <a:srgbClr val="FCE8E6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06256" y="1353312"/>
            <a:ext cx="73152" cy="1143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61704" y="1444752"/>
            <a:ext cx="235000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E-CHECK + MONTH-TO-MONTH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704" y="1719072"/>
            <a:ext cx="235000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53.73%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704" y="2203704"/>
            <a:ext cx="235000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Highest combined segment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278892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2376" y="2880360"/>
            <a:ext cx="5138928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400" b="1" i="0">
                <a:solidFill>
                  <a:srgbClr val="164980"/>
                </a:solidFill>
                <a:latin typeface="Aptos"/>
              </a:rPr>
              <a:t>What stands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" y="3227832"/>
            <a:ext cx="5102352" cy="2002536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t>• Churn is not evenly distributed across customer segments.</a:t>
            </a:r>
          </a:p>
          <a:p>
            <a:pPr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t>• Customers in their first 12 months show the highest tenure-band churn.</a:t>
            </a:r>
          </a:p>
          <a:p>
            <a:pPr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t>• Contract and payment method together reveal a high-churn observed segment.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2788920"/>
            <a:ext cx="534924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27648" y="2880360"/>
            <a:ext cx="5093207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400" b="1" i="0">
                <a:solidFill>
                  <a:srgbClr val="0D7E70"/>
                </a:solidFill>
                <a:latin typeface="Aptos"/>
              </a:rPr>
              <a:t>What this means for the business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3227832"/>
            <a:ext cx="5056631" cy="2002536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t>• Investigate early customer experience and month-to-month customers.</a:t>
            </a:r>
          </a:p>
          <a:p>
            <a:pPr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t>• Review billing clarity and payment setup for electronic-check users.</a:t>
            </a:r>
          </a:p>
          <a:p>
            <a:pPr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t>• Pilot targeted improvements and measure results before scaling.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715000"/>
            <a:ext cx="10698480" cy="3657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1">
                <a:solidFill>
                  <a:srgbClr val="565F6C"/>
                </a:solidFill>
                <a:latin typeface="Aptos"/>
              </a:rPr>
              <a:t>Interpret segment differences as associations, not proof of a cause.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500" b="1" i="0">
                <a:solidFill>
                  <a:srgbClr val="0C1B5B"/>
                </a:solidFill>
                <a:latin typeface="Aptos"/>
              </a:rPr>
              <a:t>Insight 1 | Contract Type &amp; Tenure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0">
                <a:solidFill>
                  <a:srgbClr val="565F6C"/>
                </a:solidFill>
                <a:latin typeface="Aptos"/>
              </a:rPr>
              <a:t>Churn differs substantially by contract and customer tenure.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685800" cy="45720"/>
          </a:xfrm>
          <a:prstGeom prst="rect">
            <a:avLst/>
          </a:prstGeom>
          <a:solidFill>
            <a:srgbClr val="EB6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/>
            <a:r>
              <a:rPr sz="900" b="0" i="0">
                <a:solidFill>
                  <a:srgbClr val="565F6C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53312"/>
            <a:ext cx="3200400" cy="1143000"/>
          </a:xfrm>
          <a:prstGeom prst="roundRect">
            <a:avLst/>
          </a:prstGeom>
          <a:solidFill>
            <a:srgbClr val="FFF6DC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53312"/>
            <a:ext cx="73152" cy="1143000"/>
          </a:xfrm>
          <a:prstGeom prst="rect">
            <a:avLst/>
          </a:prstGeom>
          <a:solidFill>
            <a:srgbClr val="EB6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444752"/>
            <a:ext cx="294436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MONTH-TO-MONTH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19072"/>
            <a:ext cx="294436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42.71%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03704"/>
            <a:ext cx="294436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One-year: 11.27%; two-year: 2.83%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353312"/>
            <a:ext cx="3200400" cy="1143000"/>
          </a:xfrm>
          <a:prstGeom prst="roundRect">
            <a:avLst/>
          </a:prstGeom>
          <a:solidFill>
            <a:srgbClr val="FCE8E6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60520" y="1353312"/>
            <a:ext cx="73152" cy="1143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5968" y="1444752"/>
            <a:ext cx="294436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TENURE: 0–12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1719072"/>
            <a:ext cx="294436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47.44%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203704"/>
            <a:ext cx="294436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Highest tenure-band churn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353312"/>
            <a:ext cx="3200400" cy="1143000"/>
          </a:xfrm>
          <a:prstGeom prst="roundRect">
            <a:avLst/>
          </a:prstGeom>
          <a:solidFill>
            <a:srgbClr val="E0F2F1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80960" y="1353312"/>
            <a:ext cx="73152" cy="1143000"/>
          </a:xfrm>
          <a:prstGeom prst="rect">
            <a:avLst/>
          </a:prstGeom>
          <a:solidFill>
            <a:srgbClr val="0D7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36408" y="1444752"/>
            <a:ext cx="294436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TENURE: 61–72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1719072"/>
            <a:ext cx="294436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6.61%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203704"/>
            <a:ext cx="294436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Lowest tenure-band churn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788920"/>
            <a:ext cx="5349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" y="2880360"/>
            <a:ext cx="5093207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400" b="1" i="0">
                <a:solidFill>
                  <a:srgbClr val="164980"/>
                </a:solidFill>
                <a:latin typeface="Aptos"/>
              </a:rPr>
              <a:t>Key 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227832"/>
            <a:ext cx="5056631" cy="1956816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t>• Month-to-month customers have the highest contract-level churn.</a:t>
            </a:r>
          </a:p>
          <a:p>
            <a:pPr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t>• The first 12 months have the highest churn across tenure groups.</a:t>
            </a:r>
          </a:p>
          <a:p>
            <a:pPr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t>• Month-to-month customers in the 0–12 month band: 51.35% churn.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788920"/>
            <a:ext cx="5349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7648" y="2880360"/>
            <a:ext cx="5093207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400" b="1" i="0">
                <a:solidFill>
                  <a:srgbClr val="0D7E70"/>
                </a:solidFill>
                <a:latin typeface="Aptos"/>
              </a:rPr>
              <a:t>Recommended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3227832"/>
            <a:ext cx="5056631" cy="1956816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t>• Review onboarding, first-bill clarity, and early support touchpoints.</a:t>
            </a:r>
          </a:p>
          <a:p>
            <a:pPr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t>• Test timely check-ins for new customers and measure retention outcomes.</a:t>
            </a:r>
          </a:p>
          <a:p>
            <a:pPr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t>• Explain contract options transparently; avoid pressure-based tactics.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69280"/>
            <a:ext cx="10789920" cy="3657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1">
                <a:solidFill>
                  <a:srgbClr val="565F6C"/>
                </a:solidFill>
                <a:latin typeface="Aptos"/>
              </a:rPr>
              <a:t>Priority hypothesis: early-life experience and contract flexibility deserve further investigation.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500" b="1" i="0">
                <a:solidFill>
                  <a:srgbClr val="0C1B5B"/>
                </a:solidFill>
                <a:latin typeface="Aptos"/>
              </a:rPr>
              <a:t>Insight 2 | Payment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0">
                <a:solidFill>
                  <a:srgbClr val="565F6C"/>
                </a:solidFill>
                <a:latin typeface="Aptos"/>
              </a:rPr>
              <a:t>Payment segments differ, especially when combined with contract type.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685800" cy="45720"/>
          </a:xfrm>
          <a:prstGeom prst="rect">
            <a:avLst/>
          </a:prstGeom>
          <a:solidFill>
            <a:srgbClr val="EB6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/>
            <a:r>
              <a:rPr sz="900" b="0" i="0">
                <a:solidFill>
                  <a:srgbClr val="565F6C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53312"/>
            <a:ext cx="3200400" cy="1143000"/>
          </a:xfrm>
          <a:prstGeom prst="roundRect">
            <a:avLst/>
          </a:prstGeom>
          <a:solidFill>
            <a:srgbClr val="FCE8E6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353312"/>
            <a:ext cx="73152" cy="1143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444752"/>
            <a:ext cx="294436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ELECTRONIC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19072"/>
            <a:ext cx="294436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45.29%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03704"/>
            <a:ext cx="294436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Highest overall payment-method churn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353312"/>
            <a:ext cx="3200400" cy="1143000"/>
          </a:xfrm>
          <a:prstGeom prst="roundRect">
            <a:avLst/>
          </a:prstGeom>
          <a:solidFill>
            <a:srgbClr val="FCE8E6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60520" y="1353312"/>
            <a:ext cx="73152" cy="114300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5968" y="1444752"/>
            <a:ext cx="294436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E-CHECK + MONTH-TO-MONTH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1719072"/>
            <a:ext cx="294436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53.73%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203704"/>
            <a:ext cx="294436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994 churned of 1,850 customers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353312"/>
            <a:ext cx="3200400" cy="1143000"/>
          </a:xfrm>
          <a:prstGeom prst="roundRect">
            <a:avLst/>
          </a:prstGeom>
          <a:solidFill>
            <a:srgbClr val="E0F2F1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80960" y="1353312"/>
            <a:ext cx="73152" cy="1143000"/>
          </a:xfrm>
          <a:prstGeom prst="rect">
            <a:avLst/>
          </a:prstGeom>
          <a:solidFill>
            <a:srgbClr val="0D7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36408" y="1444752"/>
            <a:ext cx="294436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TWO-YEAR + MAILED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36408" y="1719072"/>
            <a:ext cx="294436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0.79%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203704"/>
            <a:ext cx="294436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Lowest observed combined 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788920"/>
            <a:ext cx="5349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" y="2880360"/>
            <a:ext cx="5093207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400" b="1" i="0">
                <a:solidFill>
                  <a:srgbClr val="164980"/>
                </a:solidFill>
                <a:latin typeface="Aptos"/>
              </a:rPr>
              <a:t>Key 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3227832"/>
            <a:ext cx="5056631" cy="1956816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42B36"/>
                </a:solidFill>
                <a:latin typeface="Aptos"/>
              </a:defRPr>
            </a:pPr>
            <a:r>
              <a:t>• Electronic-check users have the highest overall churn rate.</a:t>
            </a:r>
          </a:p>
          <a:p>
            <a:pPr>
              <a:spcAft>
                <a:spcPts val="700"/>
              </a:spcAft>
              <a:defRPr sz="1300">
                <a:solidFill>
                  <a:srgbClr val="242B36"/>
                </a:solidFill>
                <a:latin typeface="Aptos"/>
              </a:defRPr>
            </a:pPr>
            <a:r>
              <a:t>• Within month-to-month contracts, electronic-check churn is 53.73%.</a:t>
            </a:r>
          </a:p>
          <a:p>
            <a:pPr>
              <a:spcAft>
                <a:spcPts val="700"/>
              </a:spcAft>
              <a:defRPr sz="1300">
                <a:solidFill>
                  <a:srgbClr val="242B36"/>
                </a:solidFill>
                <a:latin typeface="Aptos"/>
              </a:defRPr>
            </a:pPr>
            <a:r>
              <a:t>• This combination is a priority segment to understand—not proof payment causes churn.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2788920"/>
            <a:ext cx="5349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7648" y="2880360"/>
            <a:ext cx="5093207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400" b="1" i="0">
                <a:solidFill>
                  <a:srgbClr val="0D7E70"/>
                </a:solidFill>
                <a:latin typeface="Aptos"/>
              </a:rPr>
              <a:t>Recommended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3227832"/>
            <a:ext cx="5056631" cy="1956816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42B36"/>
                </a:solidFill>
                <a:latin typeface="Aptos"/>
              </a:defRPr>
            </a:pPr>
            <a:r>
              <a:t>• Review payment setup friction, failed payments, and billing clarity where available.</a:t>
            </a:r>
          </a:p>
          <a:p>
            <a:pPr>
              <a:spcAft>
                <a:spcPts val="700"/>
              </a:spcAft>
              <a:defRPr sz="1300">
                <a:solidFill>
                  <a:srgbClr val="242B36"/>
                </a:solidFill>
                <a:latin typeface="Aptos"/>
              </a:defRPr>
            </a:pPr>
            <a:r>
              <a:t>• Communicate payment options clearly without forcing a change.</a:t>
            </a:r>
          </a:p>
          <a:p>
            <a:pPr>
              <a:spcAft>
                <a:spcPts val="700"/>
              </a:spcAft>
              <a:defRPr sz="1300">
                <a:solidFill>
                  <a:srgbClr val="242B36"/>
                </a:solidFill>
                <a:latin typeface="Aptos"/>
              </a:defRPr>
            </a:pPr>
            <a:r>
              <a:t>• Track outcomes after payment-journey improvements.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69280"/>
            <a:ext cx="10789920" cy="3657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1">
                <a:solidFill>
                  <a:srgbClr val="565F6C"/>
                </a:solidFill>
                <a:latin typeface="Aptos"/>
              </a:rPr>
              <a:t>Do not claim that changing payment method reduces churn unless testing supports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500" b="1" i="0">
                <a:solidFill>
                  <a:srgbClr val="0C1B5B"/>
                </a:solidFill>
                <a:latin typeface="Aptos"/>
              </a:rPr>
              <a:t>Insight 3 | Internet Service &amp; Add-ons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0">
                <a:solidFill>
                  <a:srgbClr val="565F6C"/>
                </a:solidFill>
                <a:latin typeface="Aptos"/>
              </a:rPr>
              <a:t>Service patterns can guide further analysis of needs and experience.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685800" cy="45720"/>
          </a:xfrm>
          <a:prstGeom prst="rect">
            <a:avLst/>
          </a:prstGeom>
          <a:solidFill>
            <a:srgbClr val="EB6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/>
            <a:r>
              <a:rPr sz="900" b="0" i="0">
                <a:solidFill>
                  <a:srgbClr val="565F6C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651760" cy="1115568"/>
          </a:xfrm>
          <a:prstGeom prst="roundRect">
            <a:avLst/>
          </a:prstGeom>
          <a:solidFill>
            <a:srgbClr val="FFF6DC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1115568"/>
          </a:xfrm>
          <a:prstGeom prst="rect">
            <a:avLst/>
          </a:prstGeom>
          <a:solidFill>
            <a:srgbClr val="EB6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17320"/>
            <a:ext cx="239572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FIBER OPTIC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239572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41.89%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48840"/>
            <a:ext cx="239572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Observed churn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25880"/>
            <a:ext cx="2651760" cy="1115568"/>
          </a:xfrm>
          <a:prstGeom prst="roundRect">
            <a:avLst/>
          </a:prstGeom>
          <a:solidFill>
            <a:srgbClr val="E6EEF8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1325880"/>
            <a:ext cx="73152" cy="1115568"/>
          </a:xfrm>
          <a:prstGeom prst="rect">
            <a:avLst/>
          </a:prstGeom>
          <a:solidFill>
            <a:srgbClr val="164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38728" y="1417320"/>
            <a:ext cx="239572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DSL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691640"/>
            <a:ext cx="239572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18.96%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148840"/>
            <a:ext cx="239572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Observed churn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325880"/>
            <a:ext cx="2651760" cy="1115568"/>
          </a:xfrm>
          <a:prstGeom prst="roundRect">
            <a:avLst/>
          </a:prstGeom>
          <a:solidFill>
            <a:srgbClr val="FCE8E6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325880"/>
            <a:ext cx="73152" cy="111556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1417320"/>
            <a:ext cx="239572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NO ONLINE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1691640"/>
            <a:ext cx="239572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41.77%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48840"/>
            <a:ext cx="239572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With service: 14.61%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325880"/>
            <a:ext cx="2651760" cy="1115568"/>
          </a:xfrm>
          <a:prstGeom prst="roundRect">
            <a:avLst/>
          </a:prstGeom>
          <a:solidFill>
            <a:srgbClr val="FCE8E6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61120" y="1325880"/>
            <a:ext cx="73152" cy="111556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16568" y="1417320"/>
            <a:ext cx="239572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NO TECH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1691640"/>
            <a:ext cx="239572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41.64%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2148840"/>
            <a:ext cx="239572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With service: 15.17%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2743200"/>
            <a:ext cx="5349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2834640"/>
            <a:ext cx="5093207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400" b="1" i="0">
                <a:solidFill>
                  <a:srgbClr val="164980"/>
                </a:solidFill>
                <a:latin typeface="Aptos"/>
              </a:rPr>
              <a:t>Key findings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3182112"/>
            <a:ext cx="5056631" cy="1956816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Fiber-optic customers show higher churn than DSL and no-internet-service groups.</a:t>
            </a:r>
          </a:p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Customers without Online Security or Tech Support show higher churn than customers with those services.</a:t>
            </a:r>
          </a:p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Price, tenure, service needs, and experience may overlap; more analysis is needed.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2743200"/>
            <a:ext cx="5349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27648" y="2834640"/>
            <a:ext cx="5093207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400" b="1" i="0">
                <a:solidFill>
                  <a:srgbClr val="0D7E70"/>
                </a:solidFill>
                <a:latin typeface="Aptos"/>
              </a:rPr>
              <a:t>Recommended 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3182112"/>
            <a:ext cx="5056631" cy="1956816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Investigate fiber complaints, reliability, and price-value perception.</a:t>
            </a:r>
          </a:p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Review whether customers understand optional services and their benefits.</a:t>
            </a:r>
          </a:p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Use customer feedback and service-quality data to test explanations.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1">
                <a:solidFill>
                  <a:srgbClr val="565F6C"/>
                </a:solidFill>
                <a:latin typeface="Aptos"/>
              </a:rPr>
              <a:t>Online Backup: 39.93% without vs 21.53% with. Device Protection: 39.13% vs 22.50%.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500" b="1" i="0">
                <a:solidFill>
                  <a:srgbClr val="0C1B5B"/>
                </a:solidFill>
                <a:latin typeface="Aptos"/>
              </a:rPr>
              <a:t>Insight 4 | Billing, Charges &amp; Customer 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0">
                <a:solidFill>
                  <a:srgbClr val="565F6C"/>
                </a:solidFill>
                <a:latin typeface="Aptos"/>
              </a:rPr>
              <a:t>Additional patterns for prioritizing follow-up questions.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685800" cy="45720"/>
          </a:xfrm>
          <a:prstGeom prst="rect">
            <a:avLst/>
          </a:prstGeom>
          <a:solidFill>
            <a:srgbClr val="EB6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/>
            <a:r>
              <a:rPr sz="900" b="0" i="0">
                <a:solidFill>
                  <a:srgbClr val="565F6C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651760" cy="1115568"/>
          </a:xfrm>
          <a:prstGeom prst="roundRect">
            <a:avLst/>
          </a:prstGeom>
          <a:solidFill>
            <a:srgbClr val="FFF6DC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1115568"/>
          </a:xfrm>
          <a:prstGeom prst="rect">
            <a:avLst/>
          </a:prstGeom>
          <a:solidFill>
            <a:srgbClr val="EB6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17320"/>
            <a:ext cx="239572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PAPERLESS: YES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239572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33.57%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48840"/>
            <a:ext cx="239572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No: 16.33%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25880"/>
            <a:ext cx="2651760" cy="1115568"/>
          </a:xfrm>
          <a:prstGeom prst="roundRect">
            <a:avLst/>
          </a:prstGeom>
          <a:solidFill>
            <a:srgbClr val="FCE8E6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1325880"/>
            <a:ext cx="73152" cy="1115568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38728" y="1417320"/>
            <a:ext cx="239572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SENIOR CITIZENS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691640"/>
            <a:ext cx="239572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41.68%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2148840"/>
            <a:ext cx="239572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Non-senior: 23.61%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325880"/>
            <a:ext cx="2651760" cy="1115568"/>
          </a:xfrm>
          <a:prstGeom prst="roundRect">
            <a:avLst/>
          </a:prstGeom>
          <a:solidFill>
            <a:srgbClr val="FFF6DC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325880"/>
            <a:ext cx="73152" cy="1115568"/>
          </a:xfrm>
          <a:prstGeom prst="rect">
            <a:avLst/>
          </a:prstGeom>
          <a:solidFill>
            <a:srgbClr val="EB6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1417320"/>
            <a:ext cx="239572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MONTHLY CHARGES 60–90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1691640"/>
            <a:ext cx="239572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33.91%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48840"/>
            <a:ext cx="239572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Highest charge-band 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1325880"/>
            <a:ext cx="2651760" cy="1115568"/>
          </a:xfrm>
          <a:prstGeom prst="roundRect">
            <a:avLst/>
          </a:prstGeom>
          <a:solidFill>
            <a:srgbClr val="E6EEF8"/>
          </a:solidFill>
          <a:ln>
            <a:solidFill>
              <a:srgbClr val="E6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61120" y="1325880"/>
            <a:ext cx="73152" cy="1115568"/>
          </a:xfrm>
          <a:prstGeom prst="rect">
            <a:avLst/>
          </a:prstGeom>
          <a:solidFill>
            <a:srgbClr val="1649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16568" y="1417320"/>
            <a:ext cx="2395728" cy="25603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565F6C"/>
                </a:solidFill>
                <a:latin typeface="Aptos"/>
              </a:rPr>
              <a:t>GENDER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1691640"/>
            <a:ext cx="2395728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300" b="1" i="0">
                <a:solidFill>
                  <a:srgbClr val="0C1B5B"/>
                </a:solidFill>
                <a:latin typeface="Aptos"/>
              </a:rPr>
              <a:t>0.76 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2148840"/>
            <a:ext cx="2395728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800" b="0" i="0">
                <a:solidFill>
                  <a:srgbClr val="565F6C"/>
                </a:solidFill>
                <a:latin typeface="Aptos"/>
              </a:rPr>
              <a:t>Female 26.92%; male 26.16%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2743200"/>
            <a:ext cx="5349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2834640"/>
            <a:ext cx="5093207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400" b="1" i="0">
                <a:solidFill>
                  <a:srgbClr val="164980"/>
                </a:solidFill>
                <a:latin typeface="Aptos"/>
              </a:rPr>
              <a:t>Key findings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3182112"/>
            <a:ext cx="5056631" cy="1956816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Paperless-billing users and senior-citizen customers show higher observed churn.</a:t>
            </a:r>
          </a:p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Monthly-charge bands above $60 show higher churn than the $0–35 band (10.89%).</a:t>
            </a:r>
          </a:p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Gender churn rates are close, with only a 0.76 percentage-point difference.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2743200"/>
            <a:ext cx="53492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27648" y="2834640"/>
            <a:ext cx="5093207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400" b="1" i="0">
                <a:solidFill>
                  <a:srgbClr val="0D7E70"/>
                </a:solidFill>
                <a:latin typeface="Aptos"/>
              </a:rPr>
              <a:t>Recommended 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3182112"/>
            <a:ext cx="5056631" cy="1956816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Review billing clarity and customer preference; preserve customer choice.</a:t>
            </a:r>
          </a:p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Offer accessible support and clear communication without stereotyping customers.</a:t>
            </a:r>
          </a:p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Review value perception and plan fit for higher-charge segments.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1">
                <a:solidFill>
                  <a:srgbClr val="565F6C"/>
                </a:solidFill>
                <a:latin typeface="Aptos"/>
              </a:rPr>
              <a:t>These are associations; price, service mix, and tenure may overlap.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500" b="1" i="0">
                <a:solidFill>
                  <a:srgbClr val="0C1B5B"/>
                </a:solidFill>
                <a:latin typeface="Aptos"/>
              </a:rPr>
              <a:t>Prioritized Retention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0">
                <a:solidFill>
                  <a:srgbClr val="565F6C"/>
                </a:solidFill>
                <a:latin typeface="Aptos"/>
              </a:rPr>
              <a:t>Recommendations are hypotheses to test, not guaranteed churn-reduction levers.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685800" cy="45720"/>
          </a:xfrm>
          <a:prstGeom prst="rect">
            <a:avLst/>
          </a:prstGeom>
          <a:solidFill>
            <a:srgbClr val="EB6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/>
            <a:r>
              <a:rPr sz="900" b="0" i="0">
                <a:solidFill>
                  <a:srgbClr val="565F6C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53312"/>
            <a:ext cx="1554480" cy="384048"/>
          </a:xfrm>
          <a:prstGeom prst="roundRect">
            <a:avLst/>
          </a:prstGeom>
          <a:solidFill>
            <a:srgbClr val="0C1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417320"/>
            <a:ext cx="1426464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PRIORITY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353312"/>
            <a:ext cx="3291840" cy="384048"/>
          </a:xfrm>
          <a:prstGeom prst="roundRect">
            <a:avLst/>
          </a:prstGeom>
          <a:solidFill>
            <a:srgbClr val="0C1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50008" y="1417320"/>
            <a:ext cx="3163824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1353312"/>
            <a:ext cx="2743200" cy="384048"/>
          </a:xfrm>
          <a:prstGeom prst="roundRect">
            <a:avLst/>
          </a:prstGeom>
          <a:solidFill>
            <a:srgbClr val="0C1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79008" y="1417320"/>
            <a:ext cx="2615184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TARGET SEGMENT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353312"/>
            <a:ext cx="2788920" cy="384048"/>
          </a:xfrm>
          <a:prstGeom prst="roundRect">
            <a:avLst/>
          </a:prstGeom>
          <a:solidFill>
            <a:srgbClr val="0C1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05088" y="1417320"/>
            <a:ext cx="2660903" cy="20116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SUCCESS MEASURE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847088"/>
            <a:ext cx="10789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1956816"/>
            <a:ext cx="1417320" cy="5486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EB6930"/>
                </a:solidFill>
                <a:latin typeface="Aptos"/>
              </a:rPr>
              <a:t>1 • Early journey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938528"/>
            <a:ext cx="3291840" cy="5943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0">
                <a:solidFill>
                  <a:srgbClr val="242B36"/>
                </a:solidFill>
                <a:latin typeface="Aptos"/>
              </a:rPr>
              <a:t>Audit onboarding, first bill, and support touchpoints.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1938528"/>
            <a:ext cx="2697480" cy="5943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900" b="0" i="0">
                <a:solidFill>
                  <a:srgbClr val="242B36"/>
                </a:solidFill>
                <a:latin typeface="Aptos"/>
              </a:rPr>
              <a:t>Tenure 0–12 months; month-to-month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938528"/>
            <a:ext cx="2606040" cy="5943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900" b="0" i="0">
                <a:solidFill>
                  <a:srgbClr val="242B36"/>
                </a:solidFill>
                <a:latin typeface="Aptos"/>
              </a:rPr>
              <a:t>90-day churn; issue resolution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715768"/>
            <a:ext cx="10789920" cy="777240"/>
          </a:xfrm>
          <a:prstGeom prst="roundRect">
            <a:avLst/>
          </a:prstGeom>
          <a:solidFill>
            <a:srgbClr val="F7EFE8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2825496"/>
            <a:ext cx="1417320" cy="5486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EB6930"/>
                </a:solidFill>
                <a:latin typeface="Aptos"/>
              </a:rPr>
              <a:t>2 • Billing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807208"/>
            <a:ext cx="3291840" cy="5943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0">
                <a:solidFill>
                  <a:srgbClr val="242B36"/>
                </a:solidFill>
                <a:latin typeface="Aptos"/>
              </a:rPr>
              <a:t>Review payment setup and billing clarity; test improvements.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807208"/>
            <a:ext cx="2697480" cy="5943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900" b="0" i="0">
                <a:solidFill>
                  <a:srgbClr val="242B36"/>
                </a:solidFill>
                <a:latin typeface="Aptos"/>
              </a:rPr>
              <a:t>Electronic-check users, especially month-to-month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807208"/>
            <a:ext cx="2606040" cy="5943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900" b="0" i="0">
                <a:solidFill>
                  <a:srgbClr val="242B36"/>
                </a:solidFill>
                <a:latin typeface="Aptos"/>
              </a:rPr>
              <a:t>Payment issues; cohort churn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584448"/>
            <a:ext cx="107899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3694176"/>
            <a:ext cx="1417320" cy="5486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164980"/>
                </a:solidFill>
                <a:latin typeface="Aptos"/>
              </a:rPr>
              <a:t>3 • Service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3675887"/>
            <a:ext cx="3291840" cy="5943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0">
                <a:solidFill>
                  <a:srgbClr val="242B36"/>
                </a:solidFill>
                <a:latin typeface="Aptos"/>
              </a:rPr>
              <a:t>Investigate fiber reliability, complaints, and value perception.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675887"/>
            <a:ext cx="2697480" cy="5943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900" b="0" i="0">
                <a:solidFill>
                  <a:srgbClr val="242B36"/>
                </a:solidFill>
                <a:latin typeface="Aptos"/>
              </a:rPr>
              <a:t>Fiber-optic customers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675887"/>
            <a:ext cx="2606040" cy="5943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900" b="0" i="0">
                <a:solidFill>
                  <a:srgbClr val="242B36"/>
                </a:solidFill>
                <a:latin typeface="Aptos"/>
              </a:rPr>
              <a:t>Complaints; satisfaction; churn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53128"/>
            <a:ext cx="10789920" cy="777240"/>
          </a:xfrm>
          <a:prstGeom prst="roundRect">
            <a:avLst/>
          </a:prstGeom>
          <a:solidFill>
            <a:srgbClr val="F7EFE8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4562856"/>
            <a:ext cx="1417320" cy="5486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1" i="0">
                <a:solidFill>
                  <a:srgbClr val="164980"/>
                </a:solidFill>
                <a:latin typeface="Aptos"/>
              </a:rPr>
              <a:t>4 • Service fit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544568"/>
            <a:ext cx="3291840" cy="5943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0">
                <a:solidFill>
                  <a:srgbClr val="242B36"/>
                </a:solidFill>
                <a:latin typeface="Aptos"/>
              </a:rPr>
              <a:t>Explain optional support/security services and learn customer needs.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4544568"/>
            <a:ext cx="2697480" cy="5943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900" b="0" i="0">
                <a:solidFill>
                  <a:srgbClr val="242B36"/>
                </a:solidFill>
                <a:latin typeface="Aptos"/>
              </a:rPr>
              <a:t>Customers without add-on 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544568"/>
            <a:ext cx="2606040" cy="5943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900" b="0" i="0">
                <a:solidFill>
                  <a:srgbClr val="242B36"/>
                </a:solidFill>
                <a:latin typeface="Aptos"/>
              </a:rPr>
              <a:t>Adoption; satisfaction; churn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486400"/>
            <a:ext cx="10789920" cy="640080"/>
          </a:xfrm>
          <a:prstGeom prst="roundRect">
            <a:avLst/>
          </a:prstGeom>
          <a:solidFill>
            <a:srgbClr val="E0F2F1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8096" y="5577840"/>
            <a:ext cx="10533888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400" b="1" i="0">
                <a:solidFill>
                  <a:srgbClr val="0D7E70"/>
                </a:solidFill>
                <a:latin typeface="Aptos"/>
              </a:rPr>
              <a:t>Measurement principle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925312"/>
            <a:ext cx="10497312" cy="128015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242B36"/>
                </a:solidFill>
                <a:latin typeface="Aptos"/>
              </a:defRPr>
            </a:pPr>
            <a:r>
              <a:t>• Pilot where practical; compare results with a baseline or suitable control group before scaling.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500" b="1" i="0">
                <a:solidFill>
                  <a:srgbClr val="0C1B5B"/>
                </a:solidFill>
                <a:latin typeface="Aptos"/>
              </a:rPr>
              <a:t>How to Measure Whether Actions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0">
                <a:solidFill>
                  <a:srgbClr val="565F6C"/>
                </a:solidFill>
                <a:latin typeface="Aptos"/>
              </a:rPr>
              <a:t>Track outcomes consistently to move beyond descriptive findings.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685800" cy="45720"/>
          </a:xfrm>
          <a:prstGeom prst="rect">
            <a:avLst/>
          </a:prstGeom>
          <a:solidFill>
            <a:srgbClr val="EB6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/>
            <a:r>
              <a:rPr sz="900" b="0" i="0">
                <a:solidFill>
                  <a:srgbClr val="565F6C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5204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463040"/>
            <a:ext cx="3264408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400" b="1" i="0">
                <a:solidFill>
                  <a:srgbClr val="164980"/>
                </a:solidFill>
                <a:latin typeface="Aptos"/>
              </a:rPr>
              <a:t>Core outcome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810512"/>
            <a:ext cx="3227832" cy="2916936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Overall monthly churn rate.</a:t>
            </a:r>
          </a:p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90-day churn for newly acquired customers.</a:t>
            </a:r>
          </a:p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Churn by contract, tenure, payment, and service.</a:t>
            </a:r>
          </a:p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Retention rate and customer count alongside rates.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5204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71416" y="1463040"/>
            <a:ext cx="3264408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400" b="1" i="0">
                <a:solidFill>
                  <a:srgbClr val="164980"/>
                </a:solidFill>
                <a:latin typeface="Aptos"/>
              </a:rPr>
              <a:t>Experience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4" y="1810512"/>
            <a:ext cx="3227832" cy="2916936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First-contact resolution and time to resolve.</a:t>
            </a:r>
          </a:p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Billing/payment issues and failed-payment frequency.</a:t>
            </a:r>
          </a:p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Customer satisfaction and feedback themes.</a:t>
            </a:r>
          </a:p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Service complaints and reliability indicators.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5204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74736" y="1463040"/>
            <a:ext cx="3264408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400" b="1" i="0">
                <a:solidFill>
                  <a:srgbClr val="0D7E70"/>
                </a:solidFill>
                <a:latin typeface="Aptos"/>
              </a:rPr>
              <a:t>Evaluation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1810512"/>
            <a:ext cx="3227832" cy="2916936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Define a baseline before intervention.</a:t>
            </a:r>
          </a:p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Compare similar cohorts or use a control group where feasible.</a:t>
            </a:r>
          </a:p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Track over an agreed period and check trade-offs.</a:t>
            </a:r>
          </a:p>
          <a:p>
            <a:pPr>
              <a:spcAft>
                <a:spcPts val="700"/>
              </a:spcAft>
              <a:defRPr sz="1200">
                <a:solidFill>
                  <a:srgbClr val="242B36"/>
                </a:solidFill>
                <a:latin typeface="Aptos"/>
              </a:defRPr>
            </a:pPr>
            <a:r>
              <a:t>• Scale only when evidence supports the change.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10698480" cy="7315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400" b="1" i="0">
                <a:solidFill>
                  <a:srgbClr val="0C1B5B"/>
                </a:solidFill>
                <a:latin typeface="Aptos"/>
              </a:rPr>
              <a:t>Do not judge success by adoption or clicks alone. The key question is whether customer outcomes improve without creating new problems.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0972800" cy="43891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500" b="1" i="0">
                <a:solidFill>
                  <a:srgbClr val="0C1B5B"/>
                </a:solidFill>
                <a:latin typeface="Aptos"/>
              </a:rPr>
              <a:t>Interpretation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972800" cy="29260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0">
                <a:solidFill>
                  <a:srgbClr val="565F6C"/>
                </a:solidFill>
                <a:latin typeface="Aptos"/>
              </a:rPr>
              <a:t>Separate what the data shows from what it cannot establish.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685800" cy="45720"/>
          </a:xfrm>
          <a:prstGeom prst="rect">
            <a:avLst/>
          </a:prstGeom>
          <a:solidFill>
            <a:srgbClr val="EB6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164592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r"/>
            <a:r>
              <a:rPr sz="900" b="0" i="0">
                <a:solidFill>
                  <a:srgbClr val="565F6C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49240" cy="3429000"/>
          </a:xfrm>
          <a:prstGeom prst="roundRect">
            <a:avLst/>
          </a:prstGeom>
          <a:solidFill>
            <a:srgbClr val="E0F2F1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508760"/>
            <a:ext cx="5093207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400" b="1" i="0">
                <a:solidFill>
                  <a:srgbClr val="0D7E70"/>
                </a:solidFill>
                <a:latin typeface="Aptos"/>
              </a:rPr>
              <a:t>What this analysis can say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856232"/>
            <a:ext cx="5056631" cy="2916936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t>• It describes churn rates across observed customer segments.</a:t>
            </a:r>
          </a:p>
          <a:p>
            <a:pPr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t>• It identifies segments worth investigating.</a:t>
            </a:r>
          </a:p>
          <a:p>
            <a:pPr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t>• It supports hypotheses for customer-experience improvements.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17320"/>
            <a:ext cx="5349240" cy="3429000"/>
          </a:xfrm>
          <a:prstGeom prst="roundRect">
            <a:avLst/>
          </a:prstGeom>
          <a:solidFill>
            <a:srgbClr val="FCE8E6"/>
          </a:solidFill>
          <a:ln>
            <a:solidFill>
              <a:srgbClr val="E5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27648" y="1508760"/>
            <a:ext cx="5093207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400" b="1" i="0">
                <a:solidFill>
                  <a:srgbClr val="B42318"/>
                </a:solidFill>
                <a:latin typeface="Aptos"/>
              </a:rPr>
              <a:t>What this analysis cannot 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1856232"/>
            <a:ext cx="5056631" cy="2916936"/>
          </a:xfrm>
          <a:prstGeom prst="rect">
            <a:avLst/>
          </a:prstGeom>
          <a:noFill/>
        </p:spPr>
        <p:txBody>
          <a:bodyPr wrap="square" lIns="27432" tIns="27432" rIns="27432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t>• That any single feature or payment method causes churn.</a:t>
            </a:r>
          </a:p>
          <a:p>
            <a:pPr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t>• That a proposed intervention will reduce churn without testing.</a:t>
            </a:r>
          </a:p>
          <a:p>
            <a:pPr>
              <a:spcAft>
                <a:spcPts val="700"/>
              </a:spcAft>
              <a:defRPr sz="1400">
                <a:solidFill>
                  <a:srgbClr val="242B36"/>
                </a:solidFill>
                <a:latin typeface="Aptos"/>
              </a:defRPr>
            </a:pPr>
            <a:r>
              <a:t>• That differences are independent of tenure, price, or other factors.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943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1">
                <a:solidFill>
                  <a:srgbClr val="565F6C"/>
                </a:solidFill>
                <a:latin typeface="Aptos"/>
              </a:rPr>
              <a:t>Data note: 7,043 records; 1,869 churned and 5,174 retained. TotalCharges has 11 missing values associated with tenure = 0; these were kept missing rather than guessed.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70448"/>
            <a:ext cx="1069848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0">
                <a:solidFill>
                  <a:srgbClr val="565F6C"/>
                </a:solidFill>
                <a:latin typeface="Aptos"/>
              </a:rPr>
              <a:t>Gender rates are similar: female 26.92%; male 26.16%. Avoid overstating the difference.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10698480" cy="32004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200" b="1" i="0">
                <a:solidFill>
                  <a:srgbClr val="EFBEA5"/>
                </a:solidFill>
                <a:latin typeface="Aptos"/>
              </a:rPr>
              <a:t>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698480" cy="8229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Focus on the customer journey, not just the churn number.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48840"/>
            <a:ext cx="10424160" cy="82296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700" b="1" i="0">
                <a:solidFill>
                  <a:srgbClr val="EFBEA5"/>
                </a:solidFill>
                <a:latin typeface="Aptos"/>
              </a:rPr>
              <a:t>The strongest observed signals are early tenure, month-to-month contracts, and month-to-month customers using electronic check.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3063240" cy="1371600"/>
          </a:xfrm>
          <a:prstGeom prst="roundRect">
            <a:avLst/>
          </a:prstGeom>
          <a:solidFill>
            <a:srgbClr val="182A70"/>
          </a:solidFill>
          <a:ln>
            <a:solidFill>
              <a:srgbClr val="EB69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968496"/>
            <a:ext cx="274320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200" b="1" i="0">
                <a:solidFill>
                  <a:srgbClr val="EB6930"/>
                </a:solidFill>
                <a:latin typeface="Aptos"/>
              </a:rPr>
              <a:t>IDENTIFY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52544"/>
            <a:ext cx="2743200" cy="56692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tos"/>
              </a:rPr>
              <a:t>Use the dashboard to locate high-churn segments.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3749039"/>
            <a:ext cx="3063240" cy="1371600"/>
          </a:xfrm>
          <a:prstGeom prst="roundRect">
            <a:avLst/>
          </a:prstGeom>
          <a:solidFill>
            <a:srgbClr val="182A70"/>
          </a:solidFill>
          <a:ln>
            <a:solidFill>
              <a:srgbClr val="5AB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3968496"/>
            <a:ext cx="274320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200" b="1" i="0">
                <a:solidFill>
                  <a:srgbClr val="5AB4AA"/>
                </a:solidFill>
                <a:latin typeface="Aptos"/>
              </a:rPr>
              <a:t>INVESTIGATE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4352544"/>
            <a:ext cx="2743200" cy="56692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tos"/>
              </a:rPr>
              <a:t>Validate hypotheses with service and customer feedback.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3749039"/>
            <a:ext cx="3063240" cy="1371600"/>
          </a:xfrm>
          <a:prstGeom prst="roundRect">
            <a:avLst/>
          </a:prstGeom>
          <a:solidFill>
            <a:srgbClr val="182A70"/>
          </a:solidFill>
          <a:ln>
            <a:solidFill>
              <a:srgbClr val="EFB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80" y="3968496"/>
            <a:ext cx="274320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200" b="1" i="0">
                <a:solidFill>
                  <a:srgbClr val="EFBEA5"/>
                </a:solidFill>
                <a:latin typeface="Aptos"/>
              </a:rPr>
              <a:t>TEST &amp; 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4352544"/>
            <a:ext cx="2743200" cy="566928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ptos"/>
              </a:rPr>
              <a:t>Pilot actions, compare outcomes, and scale based on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 lIns="73152" tIns="36576" rIns="73152" bIns="27432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ptos"/>
              </a:rPr>
              <a:t>Customer Churn &amp; Retention Analytics  •  EDA + SQL + Power 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1254</Words>
  <Application>Microsoft Office PowerPoint</Application>
  <PresentationFormat>Widescreen</PresentationFormat>
  <Paragraphs>198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kishan .</cp:lastModifiedBy>
  <cp:revision>2</cp:revision>
  <dcterms:created xsi:type="dcterms:W3CDTF">2013-01-27T09:14:16Z</dcterms:created>
  <dcterms:modified xsi:type="dcterms:W3CDTF">2026-10-25T15:06:22Z</dcterms:modified>
  <cp:category/>
</cp:coreProperties>
</file>